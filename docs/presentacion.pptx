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 el problema: compras a ojo, faltantes y vencimientos. La idea es usar el kardex que ya existe.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Remarcar la división temporal y que la prueba se usó una sola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Leer la MASE promedio 0,93 contra 1,32. Explicar por qué crema y tomate superan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en vivo: http://127.0.0.1:8000. Leche entera, stock 20000, 7 días, entrega 2. Luego borrar líneas del historial para mostrar el error. Respaldo: capturas en docs/capturas.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con el repositorio y el tag v1.0.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24000"/>
            <a:ext cx="11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D2731"/>
                </a:solidFill>
              </a:defRPr>
            </a:pPr>
            <a:r>
              <a:t>Predicción del consumo diario de insumos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936000"/>
            <a:ext cx="1080000" cy="54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044000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F6B76"/>
                </a:solidFill>
              </a:defRPr>
            </a:pPr>
            <a:r>
              <a:t>Proyecto Capstone · Nida Hugo Loza Guzmán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584000"/>
            <a:ext cx="540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D2731"/>
                </a:solidFill>
              </a:defRPr>
            </a:pPr>
            <a:r>
              <a:t>Problema</a:t>
            </a:r>
          </a:p>
          <a:p>
            <a:pPr>
              <a:spcAft>
                <a:spcPts val="600"/>
              </a:spcAft>
              <a:defRPr sz="1700" b="0">
                <a:solidFill>
                  <a:srgbClr val="1D2731"/>
                </a:solidFill>
              </a:defRPr>
            </a:pPr>
            <a:r>
              <a:t>En la cafetería los insumos se compran a ojo: a veces falta leche o queso y otras veces se vence la crema o el tomate.</a:t>
            </a:r>
          </a:p>
          <a:p>
            <a:pPr>
              <a:spcAft>
                <a:spcPts val="600"/>
              </a:spcAft>
              <a:defRPr sz="1700" b="0">
                <a:solidFill>
                  <a:srgbClr val="1D2731"/>
                </a:solidFill>
              </a:defRPr>
            </a:pPr>
            <a:r>
              <a:t>Solución</a:t>
            </a:r>
          </a:p>
          <a:p>
            <a:pPr>
              <a:spcAft>
                <a:spcPts val="600"/>
              </a:spcAft>
              <a:defRPr sz="1700" b="0">
                <a:solidFill>
                  <a:srgbClr val="1D2731"/>
                </a:solidFill>
              </a:defRPr>
            </a:pPr>
            <a:r>
              <a:t>Predecir cuánto se consume cada día de cada insumo y, con eso, decir cuántos días alcanza el stock y cuánto pedir.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00000" y="1655999"/>
          <a:ext cx="5400000" cy="22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/>
                <a:gridCol w="3960000"/>
              </a:tblGrid>
              <a:tr h="324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Elemento</a:t>
                      </a:r>
                    </a:p>
                  </a:txBody>
                  <a:tcPr>
                    <a:solidFill>
                      <a:srgbClr val="1F6F8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Definición</a:t>
                      </a:r>
                    </a:p>
                  </a:txBody>
                  <a:tcPr>
                    <a:solidFill>
                      <a:srgbClr val="1F6F8B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2731"/>
                          </a:solidFill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2731"/>
                          </a:solidFill>
                        </a:defRPr>
                      </a:pPr>
                      <a:r>
                        <a:t>Un insumo en una fecha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2731"/>
                          </a:solidFill>
                        </a:defRPr>
                      </a:pPr>
                      <a:r>
                        <a:t>Objetivo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2731"/>
                          </a:solidFill>
                        </a:defRPr>
                      </a:pPr>
                      <a:r>
                        <a:t>Consumo del día (salidas del kardex)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2731"/>
                          </a:solidFill>
                        </a:defRPr>
                      </a:pPr>
                      <a:r>
                        <a:t>Línea base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2731"/>
                          </a:solidFill>
                        </a:defRPr>
                      </a:pPr>
                      <a:r>
                        <a:t>Mismo día de la semana anterior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2731"/>
                          </a:solidFill>
                        </a:defRPr>
                      </a:pPr>
                      <a:r>
                        <a:t>Modelo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2731"/>
                          </a:solidFill>
                        </a:defRPr>
                      </a:pPr>
                      <a:r>
                        <a:t>LightGBM: consumo pasado, stock, calendario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2731"/>
                          </a:solidFill>
                        </a:defRPr>
                      </a:pPr>
                      <a:r>
                        <a:t>Métrica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2731"/>
                          </a:solidFill>
                        </a:defRPr>
                      </a:pPr>
                      <a:r>
                        <a:t>MASE (&lt; 1 supera a la base)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2731"/>
                          </a:solidFill>
                        </a:defRPr>
                      </a:pPr>
                      <a:r>
                        <a:t>Validación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D2731"/>
                          </a:solidFill>
                        </a:defRPr>
                      </a:pPr>
                      <a:r>
                        <a:t>División por fecha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24000"/>
            <a:ext cx="11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D2731"/>
                </a:solidFill>
              </a:defRPr>
            </a:pPr>
            <a:r>
              <a:t>Dataset y modelo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936000"/>
            <a:ext cx="1080000" cy="54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044000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F6B76"/>
                </a:solidFill>
              </a:defRPr>
            </a:pPr>
            <a:r>
              <a:t>Datos reales del sistema de gestión de una cafetería de Tarija (PostgreSQL)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512000"/>
            <a:ext cx="558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D2731"/>
                </a:solidFill>
              </a:defRPr>
            </a:pPr>
            <a:r>
              <a:t>• 374 404 movimientos de kardex, oct-2021 a oct-2026.</a:t>
            </a:r>
          </a:p>
          <a:p>
            <a:pPr>
              <a:spcAft>
                <a:spcPts val="600"/>
              </a:spcAft>
              <a:defRPr sz="1500" b="0">
                <a:solidFill>
                  <a:srgbClr val="1D2731"/>
                </a:solidFill>
              </a:defRPr>
            </a:pPr>
            <a:r>
              <a:t>• 14 insumos × 1 829 días = 25 606 filas.</a:t>
            </a:r>
          </a:p>
          <a:p>
            <a:pPr>
              <a:spcAft>
                <a:spcPts val="600"/>
              </a:spcAft>
              <a:defRPr sz="1500" b="0">
                <a:solidFill>
                  <a:srgbClr val="1D2731"/>
                </a:solidFill>
              </a:defRPr>
            </a:pPr>
            <a:r>
              <a:t>• Consumo = producción + venta − devoluciones. Mermas y vencimientos aparte.</a:t>
            </a:r>
          </a:p>
          <a:p>
            <a:pPr>
              <a:spcAft>
                <a:spcPts val="600"/>
              </a:spcAft>
              <a:defRPr sz="1500" b="0">
                <a:solidFill>
                  <a:srgbClr val="1D2731"/>
                </a:solidFill>
              </a:defRPr>
            </a:pPr>
            <a:r>
              <a:t>• Se excluyen clientes, usuarios y ventas: solo se comparte el agregado diario.</a:t>
            </a:r>
          </a:p>
          <a:p>
            <a:pPr>
              <a:spcAft>
                <a:spcPts val="600"/>
              </a:spcAft>
              <a:defRPr sz="1500" b="0">
                <a:solidFill>
                  <a:srgbClr val="1D2731"/>
                </a:solidFill>
              </a:defRPr>
            </a:pPr>
            <a:r>
              <a:t>• Variables: rezagos 1–28 días, medias móviles, stock del día anterior, día de la semana, mes, feriados de Bolivia y Tarija.</a:t>
            </a:r>
          </a:p>
          <a:p>
            <a:pPr>
              <a:spcAft>
                <a:spcPts val="600"/>
              </a:spcAft>
              <a:defRPr sz="1500" b="0">
                <a:solidFill>
                  <a:srgbClr val="1D2731"/>
                </a:solidFill>
              </a:defRPr>
            </a:pPr>
            <a:r>
              <a:t>• Un LightGBM global, cantidades normalizadas por insumo. Pérdida Tweedie elegida en validación.</a:t>
            </a:r>
          </a:p>
          <a:p>
            <a:pPr>
              <a:spcAft>
                <a:spcPts val="600"/>
              </a:spcAft>
              <a:defRPr sz="1500" b="0">
                <a:solidFill>
                  <a:srgbClr val="1D2731"/>
                </a:solidFill>
              </a:defRPr>
            </a:pPr>
            <a:r>
              <a:t>• Entrenamiento 2021–jun 2025 · Validación jul–dic 2025 · Prueba ene–oct 2026.</a:t>
            </a:r>
          </a:p>
        </p:txBody>
      </p:sp>
      <p:pic>
        <p:nvPicPr>
          <p:cNvPr id="6" name="Picture 5" descr="importancia_varia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000" y="1440000"/>
            <a:ext cx="5220000" cy="37285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24000"/>
            <a:ext cx="11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D2731"/>
                </a:solidFill>
              </a:defRPr>
            </a:pPr>
            <a:r>
              <a:t>Resultado frente a la línea base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936000"/>
            <a:ext cx="1080000" cy="54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044000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F6B76"/>
                </a:solidFill>
              </a:defRPr>
            </a:pPr>
            <a:r>
              <a:t>Conjunto de prueba: 1 de enero a 3 de octubre de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0000" y="1512000"/>
          <a:ext cx="5220000" cy="22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/>
                <a:gridCol w="1260000"/>
                <a:gridCol w="1260000"/>
              </a:tblGrid>
              <a:tr h="324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Métrica (prom. 14 insumos)</a:t>
                      </a:r>
                    </a:p>
                  </a:txBody>
                  <a:tcPr>
                    <a:solidFill>
                      <a:srgbClr val="1F6F8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LightGBM</a:t>
                      </a:r>
                    </a:p>
                  </a:txBody>
                  <a:tcPr>
                    <a:solidFill>
                      <a:srgbClr val="1F6F8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Base</a:t>
                      </a:r>
                    </a:p>
                  </a:txBody>
                  <a:tcPr>
                    <a:solidFill>
                      <a:srgbClr val="1F6F8B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2731"/>
                          </a:solidFill>
                        </a:defRPr>
                      </a:pPr>
                      <a:r>
                        <a:t>MASE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2731"/>
                          </a:solidFill>
                        </a:defRPr>
                      </a:pPr>
                      <a:r>
                        <a:t>0,934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2731"/>
                          </a:solidFill>
                        </a:defRPr>
                      </a:pPr>
                      <a:r>
                        <a:t>1,323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2731"/>
                          </a:solidFill>
                        </a:defRPr>
                      </a:pPr>
                      <a:r>
                        <a:t>MASE mediana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2731"/>
                          </a:solidFill>
                        </a:defRPr>
                      </a:pPr>
                      <a:r>
                        <a:t>0,796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2731"/>
                          </a:solidFill>
                        </a:defRPr>
                      </a:pPr>
                      <a:r>
                        <a:t>1,153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2731"/>
                          </a:solidFill>
                        </a:defRPr>
                      </a:pPr>
                      <a:r>
                        <a:t>WAPE diario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2731"/>
                          </a:solidFill>
                        </a:defRPr>
                      </a:pPr>
                      <a:r>
                        <a:t>44,5 %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2731"/>
                          </a:solidFill>
                        </a:defRPr>
                      </a:pPr>
                      <a:r>
                        <a:t>63,6 %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2731"/>
                          </a:solidFill>
                        </a:defRPr>
                      </a:pPr>
                      <a:r>
                        <a:t>WAPE semanal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2731"/>
                          </a:solidFill>
                        </a:defRPr>
                      </a:pPr>
                      <a:r>
                        <a:t>18,9 %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2731"/>
                          </a:solidFill>
                        </a:defRPr>
                      </a:pPr>
                      <a:r>
                        <a:t>20,9 %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2731"/>
                          </a:solidFill>
                        </a:defRPr>
                      </a:pPr>
                      <a:r>
                        <a:t>Sesgo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2731"/>
                          </a:solidFill>
                        </a:defRPr>
                      </a:pPr>
                      <a:r>
                        <a:t>-9,6 %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2731"/>
                          </a:solidFill>
                        </a:defRPr>
                      </a:pPr>
                      <a:r>
                        <a:t>-1,0 %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2731"/>
                          </a:solidFill>
                        </a:defRPr>
                      </a:pPr>
                      <a:r>
                        <a:t>Insumos donde gana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2731"/>
                          </a:solidFill>
                        </a:defRPr>
                      </a:pPr>
                      <a:r>
                        <a:t>14 de 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D2731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0000" y="4031999"/>
            <a:ext cx="522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D2731"/>
                </a:solidFill>
              </a:defRPr>
            </a:pPr>
            <a:r>
              <a:t>• Gana en los 14 insumos; baja el error entre 25 % y 34 %.</a:t>
            </a:r>
          </a:p>
          <a:p>
            <a:pPr>
              <a:spcAft>
                <a:spcPts val="600"/>
              </a:spcAft>
              <a:defRPr sz="1400" b="0">
                <a:solidFill>
                  <a:srgbClr val="1D2731"/>
                </a:solidFill>
              </a:defRPr>
            </a:pPr>
            <a:r>
              <a:t>• Crema y tomate: MASE &gt; 1 en ambos porque recién se usan desde 2024.</a:t>
            </a:r>
          </a:p>
          <a:p>
            <a:pPr>
              <a:spcAft>
                <a:spcPts val="600"/>
              </a:spcAft>
              <a:defRPr sz="1400" b="0">
                <a:solidFill>
                  <a:srgbClr val="1D2731"/>
                </a:solidFill>
              </a:defRPr>
            </a:pPr>
            <a:r>
              <a:t>• Harina y huevo (uso por lotes) son el caso difícil.</a:t>
            </a:r>
          </a:p>
        </p:txBody>
      </p:sp>
      <p:pic>
        <p:nvPicPr>
          <p:cNvPr id="7" name="Picture 6" descr="mase_por_insu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0" y="1440000"/>
            <a:ext cx="5760000" cy="324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24000"/>
            <a:ext cx="11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D2731"/>
                </a:solidFill>
              </a:defRPr>
            </a:pPr>
            <a:r>
              <a:t>Demostración del sistema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936000"/>
            <a:ext cx="1080000" cy="54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044000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F6B76"/>
                </a:solidFill>
              </a:defRPr>
            </a:pPr>
            <a:r>
              <a:t>Frontend HTML → API FastAPI → modelo LightGBM (model.txt)</a:t>
            </a:r>
          </a:p>
        </p:txBody>
      </p:sp>
      <p:pic>
        <p:nvPicPr>
          <p:cNvPr id="5" name="Picture 4" descr="01_caso_valido_lec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440000"/>
            <a:ext cx="6840000" cy="5343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68000" y="1512000"/>
            <a:ext cx="414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D2731"/>
                </a:solidFill>
              </a:defRPr>
            </a:pPr>
            <a:r>
              <a:t>Flujo de la demo</a:t>
            </a:r>
          </a:p>
          <a:p>
            <a:pPr>
              <a:spcAft>
                <a:spcPts val="600"/>
              </a:spcAft>
              <a:defRPr sz="1400" b="0">
                <a:solidFill>
                  <a:srgbClr val="1D2731"/>
                </a:solidFill>
              </a:defRPr>
            </a:pPr>
            <a:r>
              <a:t>1. Elegir insumo y cargar historial del kardex.</a:t>
            </a:r>
          </a:p>
          <a:p>
            <a:pPr>
              <a:spcAft>
                <a:spcPts val="600"/>
              </a:spcAft>
              <a:defRPr sz="1400" b="0">
                <a:solidFill>
                  <a:srgbClr val="1D2731"/>
                </a:solidFill>
              </a:defRPr>
            </a:pPr>
            <a:r>
              <a:t>2. Ingresar stock, horizonte y días de entrega.</a:t>
            </a:r>
          </a:p>
          <a:p>
            <a:pPr>
              <a:spcAft>
                <a:spcPts val="600"/>
              </a:spcAft>
              <a:defRPr sz="1400" b="0">
                <a:solidFill>
                  <a:srgbClr val="1D2731"/>
                </a:solidFill>
              </a:defRPr>
            </a:pPr>
            <a:r>
              <a:t>3. El backend valida, arma variables y ejecuta el modelo.</a:t>
            </a:r>
          </a:p>
          <a:p>
            <a:pPr>
              <a:spcAft>
                <a:spcPts val="600"/>
              </a:spcAft>
              <a:defRPr sz="1400" b="0">
                <a:solidFill>
                  <a:srgbClr val="1D2731"/>
                </a:solidFill>
              </a:defRPr>
            </a:pPr>
            <a:r>
              <a:t>4. Se ven pronóstico, cobertura y cantidad sugerida.</a:t>
            </a:r>
          </a:p>
          <a:p>
            <a:pPr>
              <a:spcAft>
                <a:spcPts val="600"/>
              </a:spcAft>
              <a:defRPr sz="1400" b="0">
                <a:solidFill>
                  <a:srgbClr val="1D2731"/>
                </a:solidFill>
              </a:defRPr>
            </a:pPr>
            <a:r>
              <a:t>Caso límite</a:t>
            </a:r>
          </a:p>
          <a:p>
            <a:pPr>
              <a:spcAft>
                <a:spcPts val="600"/>
              </a:spcAft>
              <a:defRPr sz="1400" b="0">
                <a:solidFill>
                  <a:srgbClr val="1D2731"/>
                </a:solidFill>
              </a:defRPr>
            </a:pPr>
            <a:r>
              <a:t>Historial corto o con días faltantes: el backend responde 422 con el motivo.</a:t>
            </a:r>
          </a:p>
          <a:p>
            <a:pPr>
              <a:spcAft>
                <a:spcPts val="600"/>
              </a:spcAft>
              <a:defRPr sz="1400" b="0">
                <a:solidFill>
                  <a:srgbClr val="1D2731"/>
                </a:solidFill>
              </a:defRPr>
            </a:pPr>
            <a:r>
              <a:t>Harina con stock 0: avisa pedir hoy.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24000"/>
            <a:ext cx="11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D2731"/>
                </a:solidFill>
              </a:defRPr>
            </a:pPr>
            <a:r>
              <a:t>Conclusiones y limitaciones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936000"/>
            <a:ext cx="1080000" cy="54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558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D2731"/>
                </a:solidFill>
              </a:defRPr>
            </a:pPr>
            <a:r>
              <a:t>Conclusiones</a:t>
            </a:r>
          </a:p>
          <a:p>
            <a:pPr>
              <a:spcAft>
                <a:spcPts val="600"/>
              </a:spcAft>
              <a:defRPr sz="1500" b="0">
                <a:solidFill>
                  <a:srgbClr val="1D2731"/>
                </a:solidFill>
              </a:defRPr>
            </a:pPr>
            <a:r>
              <a:t>• MASE 0,934 contra 1,323: el modelo supera a la línea base en todos los insumos.</a:t>
            </a:r>
          </a:p>
          <a:p>
            <a:pPr>
              <a:spcAft>
                <a:spcPts val="600"/>
              </a:spcAft>
              <a:defRPr sz="1500" b="0">
                <a:solidFill>
                  <a:srgbClr val="1D2731"/>
                </a:solidFill>
              </a:defRPr>
            </a:pPr>
            <a:r>
              <a:t>• Evaluación honesta: división temporal, prueba usada una vez, sin fugas.</a:t>
            </a:r>
          </a:p>
          <a:p>
            <a:pPr>
              <a:spcAft>
                <a:spcPts val="600"/>
              </a:spcAft>
              <a:defRPr sz="1500" b="0">
                <a:solidFill>
                  <a:srgbClr val="1D2731"/>
                </a:solidFill>
              </a:defRPr>
            </a:pPr>
            <a:r>
              <a:t>• Sistema completo: datos, modelo, API, interfaz y pruebas (10 pasan).</a:t>
            </a:r>
          </a:p>
          <a:p>
            <a:pPr>
              <a:spcAft>
                <a:spcPts val="600"/>
              </a:spcAft>
              <a:defRPr sz="1500" b="0">
                <a:solidFill>
                  <a:srgbClr val="1D2731"/>
                </a:solidFill>
              </a:defRPr>
            </a:pPr>
            <a:r>
              <a:t>• En el total semanal la ganancia es menor (18,9 % vs 20,9 % WAPE).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0" y="1296000"/>
            <a:ext cx="54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D2731"/>
                </a:solidFill>
              </a:defRPr>
            </a:pPr>
            <a:r>
              <a:t>Limitaciones</a:t>
            </a:r>
          </a:p>
          <a:p>
            <a:pPr>
              <a:spcAft>
                <a:spcPts val="600"/>
              </a:spcAft>
              <a:defRPr sz="1500" b="0">
                <a:solidFill>
                  <a:srgbClr val="1D2731"/>
                </a:solidFill>
              </a:defRPr>
            </a:pPr>
            <a:r>
              <a:t>• Entrenado a 1 día; a 7–14 días es recursivo.</a:t>
            </a:r>
          </a:p>
          <a:p>
            <a:pPr>
              <a:spcAft>
                <a:spcPts val="600"/>
              </a:spcAft>
              <a:defRPr sz="1500" b="0">
                <a:solidFill>
                  <a:srgbClr val="1D2731"/>
                </a:solidFill>
              </a:defRPr>
            </a:pPr>
            <a:r>
              <a:t>• Stock = envases abiertos del kardex, no almacén.</a:t>
            </a:r>
          </a:p>
          <a:p>
            <a:pPr>
              <a:spcAft>
                <a:spcPts val="600"/>
              </a:spcAft>
              <a:defRPr sz="1500" b="0">
                <a:solidFill>
                  <a:srgbClr val="1D2731"/>
                </a:solidFill>
              </a:defRPr>
            </a:pPr>
            <a:r>
              <a:t>• Sin promociones, eventos ni clima.</a:t>
            </a:r>
          </a:p>
          <a:p>
            <a:pPr>
              <a:spcAft>
                <a:spcPts val="600"/>
              </a:spcAft>
              <a:defRPr sz="1500" b="0">
                <a:solidFill>
                  <a:srgbClr val="1D2731"/>
                </a:solidFill>
              </a:defRPr>
            </a:pPr>
            <a:r>
              <a:t>• Subestima ~10 %; se compensa con stock de seguridad.</a:t>
            </a:r>
          </a:p>
          <a:p>
            <a:pPr>
              <a:spcAft>
                <a:spcPts val="600"/>
              </a:spcAft>
              <a:defRPr sz="1500" b="0">
                <a:solidFill>
                  <a:srgbClr val="1D2731"/>
                </a:solidFill>
              </a:defRPr>
            </a:pPr>
            <a:r>
              <a:t>• Una sola cafetería.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5616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6F8B"/>
                </a:solidFill>
              </a:defRPr>
            </a:pPr>
            <a:r>
              <a:t>Repositorio: github.com/hloza/prediccion-insumos-kardex · tag v1.0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